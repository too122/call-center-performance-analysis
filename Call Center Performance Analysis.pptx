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8" r:id="rId2"/>
    <p:sldId id="259" r:id="rId3"/>
    <p:sldId id="266" r:id="rId4"/>
    <p:sldId id="267" r:id="rId5"/>
    <p:sldId id="260" r:id="rId6"/>
    <p:sldId id="268" r:id="rId7"/>
    <p:sldId id="261" r:id="rId8"/>
    <p:sldId id="269" r:id="rId9"/>
    <p:sldId id="262" r:id="rId10"/>
    <p:sldId id="263" r:id="rId11"/>
    <p:sldId id="264" r:id="rId12"/>
    <p:sldId id="273" r:id="rId13"/>
    <p:sldId id="270" r:id="rId14"/>
    <p:sldId id="265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Call%20Center%20Dataset\Call%20Center%202024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Call%20Center%20Dataset\Call%20Center%202024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Call%20Center%20Dataset\Call%20Center%202024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[Call Center 2024.xlsx]Monthly_Trends!PivotTable1</c:name>
    <c:fmtId val="6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baseline="0">
                <a:effectLst/>
              </a:rPr>
              <a:t>Monthly Revenue - 2024</a:t>
            </a:r>
            <a:r>
              <a:rPr lang="en-US" sz="1400" b="0" i="0" u="none" strike="noStrike" baseline="0">
                <a:effectLst/>
              </a:rPr>
              <a:t> 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Monthly_Trends!$B$3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Monthly_Trends!$A$4:$A$16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Monthly_Trends!$B$4:$B$16</c:f>
              <c:numCache>
                <c:formatCode>[$$-409]#,##0</c:formatCode>
                <c:ptCount val="12"/>
                <c:pt idx="0">
                  <c:v>113219.72815905954</c:v>
                </c:pt>
                <c:pt idx="1">
                  <c:v>99565.283878962204</c:v>
                </c:pt>
                <c:pt idx="2">
                  <c:v>110977.09415479196</c:v>
                </c:pt>
                <c:pt idx="3">
                  <c:v>115750.30260828316</c:v>
                </c:pt>
                <c:pt idx="4">
                  <c:v>118577.61965578914</c:v>
                </c:pt>
                <c:pt idx="5">
                  <c:v>111205.03674136283</c:v>
                </c:pt>
                <c:pt idx="6">
                  <c:v>113337.7393160677</c:v>
                </c:pt>
                <c:pt idx="7">
                  <c:v>125162.78459527473</c:v>
                </c:pt>
                <c:pt idx="8">
                  <c:v>118837.27851259016</c:v>
                </c:pt>
                <c:pt idx="9">
                  <c:v>124418.82289322038</c:v>
                </c:pt>
                <c:pt idx="10">
                  <c:v>110126.9493129279</c:v>
                </c:pt>
                <c:pt idx="11">
                  <c:v>120850.83270141172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759-44EB-8844-B543076FDF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39518704"/>
        <c:axId val="739541264"/>
      </c:lineChart>
      <c:catAx>
        <c:axId val="739518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9541264"/>
        <c:crosses val="autoZero"/>
        <c:auto val="1"/>
        <c:lblAlgn val="ctr"/>
        <c:lblOffset val="100"/>
        <c:noMultiLvlLbl val="0"/>
      </c:catAx>
      <c:valAx>
        <c:axId val="739541264"/>
        <c:scaling>
          <c:orientation val="minMax"/>
        </c:scaling>
        <c:delete val="0"/>
        <c:axPos val="l"/>
        <c:numFmt formatCode="[$$-409]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9518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[Call Center 2024.xlsx]Monthly_Trends!PivotTable2</c:name>
    <c:fmtId val="9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baseline="0">
                <a:effectLst/>
              </a:rPr>
              <a:t>Monthly Call Volume - 2024</a:t>
            </a:r>
            <a:r>
              <a:rPr lang="en-US" sz="1400" b="0" i="0" u="none" strike="noStrike" baseline="0">
                <a:effectLst/>
              </a:rPr>
              <a:t> 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Monthly_Trends!$B$22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Monthly_Trends!$A$23:$A$35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Monthly_Trends!$B$23:$B$35</c:f>
              <c:numCache>
                <c:formatCode>General</c:formatCode>
                <c:ptCount val="12"/>
                <c:pt idx="0">
                  <c:v>3209</c:v>
                </c:pt>
                <c:pt idx="1">
                  <c:v>3112</c:v>
                </c:pt>
                <c:pt idx="2">
                  <c:v>2958</c:v>
                </c:pt>
                <c:pt idx="3">
                  <c:v>3074</c:v>
                </c:pt>
                <c:pt idx="4">
                  <c:v>3151</c:v>
                </c:pt>
                <c:pt idx="5">
                  <c:v>2999</c:v>
                </c:pt>
                <c:pt idx="6">
                  <c:v>3113</c:v>
                </c:pt>
                <c:pt idx="7">
                  <c:v>3194</c:v>
                </c:pt>
                <c:pt idx="8">
                  <c:v>3148</c:v>
                </c:pt>
                <c:pt idx="9">
                  <c:v>3179</c:v>
                </c:pt>
                <c:pt idx="10">
                  <c:v>3003</c:v>
                </c:pt>
                <c:pt idx="11">
                  <c:v>3062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106-4FD9-8FF4-744C3B4A3E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339728"/>
        <c:axId val="584328208"/>
      </c:lineChart>
      <c:catAx>
        <c:axId val="5843397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4328208"/>
        <c:crosses val="autoZero"/>
        <c:auto val="1"/>
        <c:lblAlgn val="ctr"/>
        <c:lblOffset val="100"/>
        <c:noMultiLvlLbl val="0"/>
      </c:catAx>
      <c:valAx>
        <c:axId val="58432820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4339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[Call Center 2024.xlsx]Agent_Performance!PivotTable1</c:name>
    <c:fmtId val="2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Top</a:t>
            </a:r>
            <a:r>
              <a:rPr lang="en-US" b="1" baseline="0"/>
              <a:t> 10 Agents by Total Revenue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Agent_Performance!$B$3</c:f>
              <c:strCache>
                <c:ptCount val="1"/>
                <c:pt idx="0">
                  <c:v> Total Calls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Agent_Performance!$A$4:$A$13</c:f>
              <c:strCache>
                <c:ptCount val="10"/>
                <c:pt idx="0">
                  <c:v>Evan Davis</c:v>
                </c:pt>
                <c:pt idx="1">
                  <c:v>Mimi Brown</c:v>
                </c:pt>
                <c:pt idx="2">
                  <c:v>Mimi Williams</c:v>
                </c:pt>
                <c:pt idx="3">
                  <c:v>Alice Smith</c:v>
                </c:pt>
                <c:pt idx="4">
                  <c:v>Evan Rodriguez</c:v>
                </c:pt>
                <c:pt idx="5">
                  <c:v>Anna Martinez</c:v>
                </c:pt>
                <c:pt idx="6">
                  <c:v>Chris Martinez</c:v>
                </c:pt>
                <c:pt idx="7">
                  <c:v>Jane Martinez</c:v>
                </c:pt>
                <c:pt idx="8">
                  <c:v>Alice Brown</c:v>
                </c:pt>
                <c:pt idx="9">
                  <c:v>Chris Garcia</c:v>
                </c:pt>
              </c:strCache>
            </c:strRef>
          </c:cat>
          <c:val>
            <c:numRef>
              <c:f>Agent_Performance!$B$4:$B$13</c:f>
              <c:numCache>
                <c:formatCode>General</c:formatCode>
                <c:ptCount val="10"/>
                <c:pt idx="0">
                  <c:v>893</c:v>
                </c:pt>
                <c:pt idx="1">
                  <c:v>608</c:v>
                </c:pt>
                <c:pt idx="2">
                  <c:v>344</c:v>
                </c:pt>
                <c:pt idx="3">
                  <c:v>582</c:v>
                </c:pt>
                <c:pt idx="4">
                  <c:v>614</c:v>
                </c:pt>
                <c:pt idx="5">
                  <c:v>438</c:v>
                </c:pt>
                <c:pt idx="6">
                  <c:v>435</c:v>
                </c:pt>
                <c:pt idx="7">
                  <c:v>578</c:v>
                </c:pt>
                <c:pt idx="8">
                  <c:v>530</c:v>
                </c:pt>
                <c:pt idx="9">
                  <c:v>402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21-4362-A284-E836D02B9A91}"/>
            </c:ext>
          </c:extLst>
        </c:ser>
        <c:ser>
          <c:idx val="1"/>
          <c:order val="1"/>
          <c:tx>
            <c:strRef>
              <c:f>Agent_Performance!$C$3</c:f>
              <c:strCache>
                <c:ptCount val="1"/>
                <c:pt idx="0">
                  <c:v>Total Calls Reached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Agent_Performance!$A$4:$A$13</c:f>
              <c:strCache>
                <c:ptCount val="10"/>
                <c:pt idx="0">
                  <c:v>Evan Davis</c:v>
                </c:pt>
                <c:pt idx="1">
                  <c:v>Mimi Brown</c:v>
                </c:pt>
                <c:pt idx="2">
                  <c:v>Mimi Williams</c:v>
                </c:pt>
                <c:pt idx="3">
                  <c:v>Alice Smith</c:v>
                </c:pt>
                <c:pt idx="4">
                  <c:v>Evan Rodriguez</c:v>
                </c:pt>
                <c:pt idx="5">
                  <c:v>Anna Martinez</c:v>
                </c:pt>
                <c:pt idx="6">
                  <c:v>Chris Martinez</c:v>
                </c:pt>
                <c:pt idx="7">
                  <c:v>Jane Martinez</c:v>
                </c:pt>
                <c:pt idx="8">
                  <c:v>Alice Brown</c:v>
                </c:pt>
                <c:pt idx="9">
                  <c:v>Chris Garcia</c:v>
                </c:pt>
              </c:strCache>
            </c:strRef>
          </c:cat>
          <c:val>
            <c:numRef>
              <c:f>Agent_Performance!$C$4:$C$13</c:f>
              <c:numCache>
                <c:formatCode>General</c:formatCode>
                <c:ptCount val="10"/>
                <c:pt idx="0">
                  <c:v>600</c:v>
                </c:pt>
                <c:pt idx="1">
                  <c:v>307</c:v>
                </c:pt>
                <c:pt idx="2">
                  <c:v>163</c:v>
                </c:pt>
                <c:pt idx="3">
                  <c:v>319</c:v>
                </c:pt>
                <c:pt idx="4">
                  <c:v>187</c:v>
                </c:pt>
                <c:pt idx="5">
                  <c:v>262</c:v>
                </c:pt>
                <c:pt idx="6">
                  <c:v>249</c:v>
                </c:pt>
                <c:pt idx="7">
                  <c:v>331</c:v>
                </c:pt>
                <c:pt idx="8">
                  <c:v>184</c:v>
                </c:pt>
                <c:pt idx="9">
                  <c:v>230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21-4362-A284-E836D02B9A91}"/>
            </c:ext>
          </c:extLst>
        </c:ser>
        <c:ser>
          <c:idx val="2"/>
          <c:order val="2"/>
          <c:tx>
            <c:strRef>
              <c:f>Agent_Performance!$D$3</c:f>
              <c:strCache>
                <c:ptCount val="1"/>
                <c:pt idx="0">
                  <c:v>Total Deals Closed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Agent_Performance!$A$4:$A$13</c:f>
              <c:strCache>
                <c:ptCount val="10"/>
                <c:pt idx="0">
                  <c:v>Evan Davis</c:v>
                </c:pt>
                <c:pt idx="1">
                  <c:v>Mimi Brown</c:v>
                </c:pt>
                <c:pt idx="2">
                  <c:v>Mimi Williams</c:v>
                </c:pt>
                <c:pt idx="3">
                  <c:v>Alice Smith</c:v>
                </c:pt>
                <c:pt idx="4">
                  <c:v>Evan Rodriguez</c:v>
                </c:pt>
                <c:pt idx="5">
                  <c:v>Anna Martinez</c:v>
                </c:pt>
                <c:pt idx="6">
                  <c:v>Chris Martinez</c:v>
                </c:pt>
                <c:pt idx="7">
                  <c:v>Jane Martinez</c:v>
                </c:pt>
                <c:pt idx="8">
                  <c:v>Alice Brown</c:v>
                </c:pt>
                <c:pt idx="9">
                  <c:v>Chris Garcia</c:v>
                </c:pt>
              </c:strCache>
            </c:strRef>
          </c:cat>
          <c:val>
            <c:numRef>
              <c:f>Agent_Performance!$D$4:$D$13</c:f>
              <c:numCache>
                <c:formatCode>General</c:formatCode>
                <c:ptCount val="10"/>
                <c:pt idx="0">
                  <c:v>175</c:v>
                </c:pt>
                <c:pt idx="1">
                  <c:v>102</c:v>
                </c:pt>
                <c:pt idx="2">
                  <c:v>102</c:v>
                </c:pt>
                <c:pt idx="3">
                  <c:v>155</c:v>
                </c:pt>
                <c:pt idx="4">
                  <c:v>106</c:v>
                </c:pt>
                <c:pt idx="5">
                  <c:v>83</c:v>
                </c:pt>
                <c:pt idx="6">
                  <c:v>101</c:v>
                </c:pt>
                <c:pt idx="7">
                  <c:v>268</c:v>
                </c:pt>
                <c:pt idx="8">
                  <c:v>90</c:v>
                </c:pt>
                <c:pt idx="9">
                  <c:v>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821-4362-A284-E836D02B9A91}"/>
            </c:ext>
          </c:extLst>
        </c:ser>
        <c:ser>
          <c:idx val="3"/>
          <c:order val="3"/>
          <c:tx>
            <c:strRef>
              <c:f>Agent_Performance!$E$3</c:f>
              <c:strCache>
                <c:ptCount val="1"/>
                <c:pt idx="0">
                  <c:v>Total Revenue</c:v>
                </c:pt>
              </c:strCache>
            </c:strRef>
          </c:tx>
          <c:spPr>
            <a:solidFill>
              <a:srgbClr val="8064A2"/>
            </a:solidFill>
            <a:ln>
              <a:noFill/>
            </a:ln>
            <a:effectLst/>
          </c:spPr>
          <c:invertIfNegative val="0"/>
          <c:cat>
            <c:strRef>
              <c:f>Agent_Performance!$A$4:$A$13</c:f>
              <c:strCache>
                <c:ptCount val="10"/>
                <c:pt idx="0">
                  <c:v>Evan Davis</c:v>
                </c:pt>
                <c:pt idx="1">
                  <c:v>Mimi Brown</c:v>
                </c:pt>
                <c:pt idx="2">
                  <c:v>Mimi Williams</c:v>
                </c:pt>
                <c:pt idx="3">
                  <c:v>Alice Smith</c:v>
                </c:pt>
                <c:pt idx="4">
                  <c:v>Evan Rodriguez</c:v>
                </c:pt>
                <c:pt idx="5">
                  <c:v>Anna Martinez</c:v>
                </c:pt>
                <c:pt idx="6">
                  <c:v>Chris Martinez</c:v>
                </c:pt>
                <c:pt idx="7">
                  <c:v>Jane Martinez</c:v>
                </c:pt>
                <c:pt idx="8">
                  <c:v>Alice Brown</c:v>
                </c:pt>
                <c:pt idx="9">
                  <c:v>Chris Garcia</c:v>
                </c:pt>
              </c:strCache>
            </c:strRef>
          </c:cat>
          <c:val>
            <c:numRef>
              <c:f>Agent_Performance!$E$4:$E$13</c:f>
              <c:numCache>
                <c:formatCode>[$$-409]#,##0</c:formatCode>
                <c:ptCount val="10"/>
                <c:pt idx="0">
                  <c:v>38339.314230363918</c:v>
                </c:pt>
                <c:pt idx="1">
                  <c:v>26752.778872740644</c:v>
                </c:pt>
                <c:pt idx="2">
                  <c:v>25138.26529062921</c:v>
                </c:pt>
                <c:pt idx="3">
                  <c:v>24225.983580286491</c:v>
                </c:pt>
                <c:pt idx="4">
                  <c:v>21462.786254456059</c:v>
                </c:pt>
                <c:pt idx="5">
                  <c:v>20383.562873339379</c:v>
                </c:pt>
                <c:pt idx="6">
                  <c:v>20227.957038136508</c:v>
                </c:pt>
                <c:pt idx="7">
                  <c:v>19939.984115798557</c:v>
                </c:pt>
                <c:pt idx="8">
                  <c:v>19354.3175726972</c:v>
                </c:pt>
                <c:pt idx="9">
                  <c:v>18996.401645461658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821-4362-A284-E836D02B9A91}"/>
            </c:ext>
          </c:extLst>
        </c:ser>
        <c:ser>
          <c:idx val="4"/>
          <c:order val="4"/>
          <c:tx>
            <c:strRef>
              <c:f>Agent_Performance!$F$3</c:f>
              <c:strCache>
                <c:ptCount val="1"/>
                <c:pt idx="0">
                  <c:v>Avg Revenue per Deal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Agent_Performance!$A$4:$A$13</c:f>
              <c:strCache>
                <c:ptCount val="10"/>
                <c:pt idx="0">
                  <c:v>Evan Davis</c:v>
                </c:pt>
                <c:pt idx="1">
                  <c:v>Mimi Brown</c:v>
                </c:pt>
                <c:pt idx="2">
                  <c:v>Mimi Williams</c:v>
                </c:pt>
                <c:pt idx="3">
                  <c:v>Alice Smith</c:v>
                </c:pt>
                <c:pt idx="4">
                  <c:v>Evan Rodriguez</c:v>
                </c:pt>
                <c:pt idx="5">
                  <c:v>Anna Martinez</c:v>
                </c:pt>
                <c:pt idx="6">
                  <c:v>Chris Martinez</c:v>
                </c:pt>
                <c:pt idx="7">
                  <c:v>Jane Martinez</c:v>
                </c:pt>
                <c:pt idx="8">
                  <c:v>Alice Brown</c:v>
                </c:pt>
                <c:pt idx="9">
                  <c:v>Chris Garcia</c:v>
                </c:pt>
              </c:strCache>
            </c:strRef>
          </c:cat>
          <c:val>
            <c:numRef>
              <c:f>Agent_Performance!$F$4:$F$13</c:f>
              <c:numCache>
                <c:formatCode>[$$-409]#,##0.00</c:formatCode>
                <c:ptCount val="10"/>
                <c:pt idx="0">
                  <c:v>403.62550976810348</c:v>
                </c:pt>
                <c:pt idx="1">
                  <c:v>494.885891925203</c:v>
                </c:pt>
                <c:pt idx="2">
                  <c:v>396.60429793103248</c:v>
                </c:pt>
                <c:pt idx="3">
                  <c:v>304.798150114267</c:v>
                </c:pt>
                <c:pt idx="4">
                  <c:v>382.33075030768703</c:v>
                </c:pt>
                <c:pt idx="5">
                  <c:v>307.75351089061655</c:v>
                </c:pt>
                <c:pt idx="6">
                  <c:v>165.62329927321028</c:v>
                </c:pt>
                <c:pt idx="7">
                  <c:v>75.512415809758522</c:v>
                </c:pt>
                <c:pt idx="8">
                  <c:v>497.51700749488242</c:v>
                </c:pt>
                <c:pt idx="9">
                  <c:v>610.70558949110091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821-4362-A284-E836D02B9A91}"/>
            </c:ext>
          </c:extLst>
        </c:ser>
        <c:ser>
          <c:idx val="5"/>
          <c:order val="5"/>
          <c:tx>
            <c:strRef>
              <c:f>Agent_Performance!$G$3</c:f>
              <c:strCache>
                <c:ptCount val="1"/>
                <c:pt idx="0">
                  <c:v>Avg Revenue per Call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Agent_Performance!$A$4:$A$13</c:f>
              <c:strCache>
                <c:ptCount val="10"/>
                <c:pt idx="0">
                  <c:v>Evan Davis</c:v>
                </c:pt>
                <c:pt idx="1">
                  <c:v>Mimi Brown</c:v>
                </c:pt>
                <c:pt idx="2">
                  <c:v>Mimi Williams</c:v>
                </c:pt>
                <c:pt idx="3">
                  <c:v>Alice Smith</c:v>
                </c:pt>
                <c:pt idx="4">
                  <c:v>Evan Rodriguez</c:v>
                </c:pt>
                <c:pt idx="5">
                  <c:v>Anna Martinez</c:v>
                </c:pt>
                <c:pt idx="6">
                  <c:v>Chris Martinez</c:v>
                </c:pt>
                <c:pt idx="7">
                  <c:v>Jane Martinez</c:v>
                </c:pt>
                <c:pt idx="8">
                  <c:v>Alice Brown</c:v>
                </c:pt>
                <c:pt idx="9">
                  <c:v>Chris Garcia</c:v>
                </c:pt>
              </c:strCache>
            </c:strRef>
          </c:cat>
          <c:val>
            <c:numRef>
              <c:f>Agent_Performance!$G$4:$G$13</c:f>
              <c:numCache>
                <c:formatCode>[$$-409]#,##0.00</c:formatCode>
                <c:ptCount val="10"/>
                <c:pt idx="0">
                  <c:v>42.947017563946012</c:v>
                </c:pt>
                <c:pt idx="1">
                  <c:v>47.550026629436822</c:v>
                </c:pt>
                <c:pt idx="2">
                  <c:v>80.143789919051812</c:v>
                </c:pt>
                <c:pt idx="3">
                  <c:v>40.05604835340587</c:v>
                </c:pt>
                <c:pt idx="4">
                  <c:v>36.261334369203091</c:v>
                </c:pt>
                <c:pt idx="5">
                  <c:v>48.149954713894054</c:v>
                </c:pt>
                <c:pt idx="6">
                  <c:v>48.592893685808939</c:v>
                </c:pt>
                <c:pt idx="7">
                  <c:v>34.864626973548951</c:v>
                </c:pt>
                <c:pt idx="8">
                  <c:v>37.793611213223087</c:v>
                </c:pt>
                <c:pt idx="9">
                  <c:v>47.925561151270635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821-4362-A284-E836D02B9A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3"/>
        <c:overlap val="100"/>
        <c:axId val="1255393583"/>
        <c:axId val="1255390223"/>
      </c:barChart>
      <c:catAx>
        <c:axId val="1255393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5390223"/>
        <c:crosses val="autoZero"/>
        <c:auto val="1"/>
        <c:lblAlgn val="ctr"/>
        <c:lblOffset val="100"/>
        <c:noMultiLvlLbl val="0"/>
      </c:catAx>
      <c:valAx>
        <c:axId val="1255390223"/>
        <c:scaling>
          <c:orientation val="minMax"/>
        </c:scaling>
        <c:delete val="0"/>
        <c:axPos val="l"/>
        <c:numFmt formatCode="[$$-409]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53935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81E332-060E-4AB4-8A14-7667DDCEDE3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1C597-915E-4227-815B-ED829C9AE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437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1C597-915E-4227-815B-ED829C9AE20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572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1C597-915E-4227-815B-ED829C9AE20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276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1C597-915E-4227-815B-ED829C9AE20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634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5F424-4E54-FFB2-E740-56D4457821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6D55C0-46D2-7E5A-AE4D-967C1F0C3C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C3F6D-BE16-F108-83A8-8ADDE3B9D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3736-9803-41D8-9B8D-90D24872962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22B00-CBA4-5991-039F-B874C7BE4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5F124-3EA3-DFDD-A18C-7E564402A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4E725-3E2E-4042-8CB3-584FA2B9A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602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DE855-E465-EC62-BCF1-52694ADC5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1739D-CF25-558E-9DB0-BFF3CA021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34324-0D90-62C2-3111-E82F8472C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3736-9803-41D8-9B8D-90D24872962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21636-5598-4C10-ED45-788403730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04741-CDBE-8957-A9BF-06347608A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4E725-3E2E-4042-8CB3-584FA2B9A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447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8D813-DE0D-380B-BA05-74B76B31D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B5F47-4CD8-1066-63D3-206643D97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C2926-44D4-E725-70B4-2E0F19271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3736-9803-41D8-9B8D-90D24872962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55144-7E10-294B-499E-7CB6DA47A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B5BBF-513C-EB5A-0CC5-DDEBB8AC0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4E725-3E2E-4042-8CB3-584FA2B9A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229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A0A76-38E9-7CD2-04B7-FFAC22DFC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5C855-85A9-9D0C-E5AD-713B9AD5C5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0B360-6329-4CB3-8AE8-69841749D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FC771-C0C1-3D79-D483-BE7C197E7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3736-9803-41D8-9B8D-90D24872962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E3E068-13ED-D004-9326-64E0EF0B7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3497C3-DD99-B477-998C-C3623FB5E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4E725-3E2E-4042-8CB3-584FA2B9A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891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E5937-3180-A344-F707-4FC0AFEF7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6DC67-8F7C-76F0-6971-265E1B625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130D3-C377-9B8A-440C-8AAF1950F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D6DEDF-69D3-738D-F6F1-1CA3893412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330E92-D6E6-F35B-DAF9-4DACC8F78A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1E4A6B-0C83-18D2-5437-0A9A50CCE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3736-9803-41D8-9B8D-90D24872962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443179-7154-0E84-B4D7-05592C530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CCE9CC-3F03-51C2-36B1-8184AE8AD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4E725-3E2E-4042-8CB3-584FA2B9A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954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27F31-4325-B9F7-961A-C71429C3A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DB6D9B-53A2-0BDB-9341-E9182DDD3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3736-9803-41D8-9B8D-90D24872962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F7298C-8ABE-24FB-1270-A17A3E307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6A149B-BC84-2A97-B28E-7D5459314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4E725-3E2E-4042-8CB3-584FA2B9A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106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3B6EB0-E2B0-E844-570D-4CC250E93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3736-9803-41D8-9B8D-90D24872962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8AA7-21CD-4F52-8FCF-D85F0C77A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5C7A7-F381-AF1F-CC32-A4A47CADD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4E725-3E2E-4042-8CB3-584FA2B9A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61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002AD-0A38-3466-2ED1-0364E5312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D2D0E-A5DB-5317-8190-B4D976E2B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39D88-AF9F-84E6-B08E-213CBE14B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93CC11-E3A5-3CA5-C708-EB5BE2BCD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3736-9803-41D8-9B8D-90D24872962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E8A62-A91C-C389-680B-2B2DD9763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DEED6B-37F2-A6E3-2B59-B1CB23B67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4E725-3E2E-4042-8CB3-584FA2B9A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250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26AB1-C819-D621-E7F5-17ABA45DA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0D6908-965B-9F35-7C20-0E17FE6367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F0D826-3346-9FFD-27C6-FD2B04C79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0563F-E5CF-609D-E6F1-4B656F7F2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3736-9803-41D8-9B8D-90D24872962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7012C5-5F16-3529-40AB-B988D01AF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DC4B55-01E8-FEB4-6E5A-48423C8FE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4E725-3E2E-4042-8CB3-584FA2B9A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72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0E718-8830-9F37-4F63-CE4FBFC8D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50E491-F85D-0D1A-EC05-2F1D586EE3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0AD86-0396-40E7-D516-8ACCC1A50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3736-9803-41D8-9B8D-90D24872962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0E715-DDCA-9BE9-544F-E967AFEC1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6313E-AD69-0B21-B217-DDA6FAF69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4E725-3E2E-4042-8CB3-584FA2B9A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611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E9EFE5-1FE7-66A2-91C5-D2159A2B78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9BE48C-9BF8-9317-EE78-686F379689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D52F7-97FD-4F58-1171-D6CB59998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3736-9803-41D8-9B8D-90D24872962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0975B-ED1F-35D0-2CF7-781F229F3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4A847-70FA-66C0-3083-F520BAE47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4E725-3E2E-4042-8CB3-584FA2B9A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5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30FD04-AD0F-2D5C-F477-7C602ABFC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28866-0D6B-E98D-1F83-665DE66A2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FBC53-7B01-CF1F-186A-6DA8948F4F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C43736-9803-41D8-9B8D-90D24872962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44920-26FF-7202-E065-35F8F025AE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D8772-6E5B-4A0E-E48E-71E38ADBEE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04E725-3E2E-4042-8CB3-584FA2B9A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147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FC961-BDCA-2FFD-03B0-E2006ED9A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Call Center Performance Analysis (2024)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E2A3D-A7CA-BA80-5AF0-803C8B41F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Nnoli Godslove Chito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 Analytics Project</a:t>
            </a:r>
          </a:p>
          <a:p>
            <a:pPr marL="0" indent="0" algn="ctr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February 2026</a:t>
            </a:r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485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75CFB-F5C9-3360-6986-7CDC62A36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Background &amp; Business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93EDD-51A5-21CD-0882-C05C85E46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This analysis was conducted to evaluate call center performance and understand how effectively calls were converted into successful deals.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analysis identifies performance patterns, measures agent productivity, and evaluates revenue generation to support data-driven decision making and operational improvement.</a:t>
            </a:r>
          </a:p>
        </p:txBody>
      </p:sp>
    </p:spTree>
    <p:extLst>
      <p:ext uri="{BB962C8B-B14F-4D97-AF65-F5344CB8AC3E}">
        <p14:creationId xmlns:p14="http://schemas.microsoft.com/office/powerpoint/2010/main" val="1166977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CD877-B815-D53C-4453-56D20118B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Objectives of the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84D42-7BCF-26B4-0D47-40F4DE1A0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Evaluate overall call center performance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Measure revenue generated from call operations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Assess reach and conversion effectiveness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Analyze monthly call trends and patterns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Identify opportunities for operational improvement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490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65A27-BA4A-9A1D-CE56-A4F38CFDE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Data Sourcing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255EA-0A81-8CD0-3AAC-F9C94B32A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dataset was derived from structured call center operational records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dataset includes call activity records, outcome status, agent information, and revenue variables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 was structured in tabular format for analysis and reporting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 covers monthly activities for the year 2024</a:t>
            </a:r>
          </a:p>
        </p:txBody>
      </p:sp>
    </p:spTree>
    <p:extLst>
      <p:ext uri="{BB962C8B-B14F-4D97-AF65-F5344CB8AC3E}">
        <p14:creationId xmlns:p14="http://schemas.microsoft.com/office/powerpoint/2010/main" val="2566709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EC4F5-25D1-8E89-FC98-4922A3C81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226CA-4D4E-D7B3-ED0C-C5314D95C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analysis is based on a structured call center dataset containing historical operational records for 2024.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Key variables include total calls, calls reached, deals closed, agent information, and revenue metrics.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dataset supports performance measurement, trend evaluation, and agent-level benchmarking.</a:t>
            </a:r>
          </a:p>
        </p:txBody>
      </p:sp>
    </p:spTree>
    <p:extLst>
      <p:ext uri="{BB962C8B-B14F-4D97-AF65-F5344CB8AC3E}">
        <p14:creationId xmlns:p14="http://schemas.microsoft.com/office/powerpoint/2010/main" val="2905612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AD34C-E41F-3405-6BBC-1BF58DC81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A664B-4E0B-8FE3-7DC6-968C819B4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Reviewed dataset structure and variable definitions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Assessed data quality by checking for missing or incomplete values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Examined monthly distribution of records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Validated numeric fields and calculations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Confirmed data readiness for 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1692770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85AB-2830-EF9C-CA18-0726526EB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Data Preparation &amp;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EE4CA-D70D-1903-84B8-CF61BBC3E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Several data preparation steps were performed to ensure accuracy and reliability of the analysis: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Missing values and inconsistencies were checked across relevant fields.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Duplicate records were assessed and none were identified.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New calculated columns were created, including Reach Rate, Conversion Rate, Revenue per Deal, Revenue per Call and Conversion Category.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 Month column was introduced to support time-based analysis.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Error-handling functions such as IFERROR were applied where necessary, and formatting was applied to improve readability.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889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A7329-186F-01FC-A1CC-F52D3051F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Key Metrics &amp; Performance Indicators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DC012-7628-0641-4BA5-AA4E5EB9B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Total Calls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 Total number of calls handled during the period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Calls Reached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– Number of calls that successfully connected with customers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Deals Closed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– Total number of successful sales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Total Revenue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– Total revenue generated from closed deals 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Reach Rate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 Percentage of calls successfully connected (Calls Reached / Total Calls)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Overall Conversion Rate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– Percentage of calls that resulted in sales ( Deals Closed / Calls Reached)</a:t>
            </a:r>
          </a:p>
        </p:txBody>
      </p:sp>
    </p:spTree>
    <p:extLst>
      <p:ext uri="{BB962C8B-B14F-4D97-AF65-F5344CB8AC3E}">
        <p14:creationId xmlns:p14="http://schemas.microsoft.com/office/powerpoint/2010/main" val="2759785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ED9F9-0865-FAD6-4B22-640E04AD8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931" y="0"/>
            <a:ext cx="10515600" cy="1235267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Revenue Performance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7387829-1906-4F53-AF85-D6D13183DF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6499659"/>
              </p:ext>
            </p:extLst>
          </p:nvPr>
        </p:nvGraphicFramePr>
        <p:xfrm>
          <a:off x="554636" y="2414016"/>
          <a:ext cx="11137692" cy="28475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59E747F-9B57-BC68-C272-BEADDDF57E66}"/>
              </a:ext>
            </a:extLst>
          </p:cNvPr>
          <p:cNvSpPr txBox="1"/>
          <p:nvPr/>
        </p:nvSpPr>
        <p:spPr>
          <a:xfrm>
            <a:off x="554636" y="5473005"/>
            <a:ext cx="107991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Revenue fluctuated slightly but remained relatively stable throughout the year.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No significant upward or downward trend was observed.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A6E7BD-EABB-C994-EF16-F8C165D9B5BB}"/>
              </a:ext>
            </a:extLst>
          </p:cNvPr>
          <p:cNvSpPr txBox="1"/>
          <p:nvPr/>
        </p:nvSpPr>
        <p:spPr>
          <a:xfrm>
            <a:off x="3218688" y="1755648"/>
            <a:ext cx="3877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499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14E48-2FD4-85F1-CA4D-18C5B68A3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Monthly Call Volume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6B2F100-5B19-425A-A45B-368AA9965B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9477806"/>
              </p:ext>
            </p:extLst>
          </p:nvPr>
        </p:nvGraphicFramePr>
        <p:xfrm>
          <a:off x="838200" y="1825625"/>
          <a:ext cx="10515600" cy="34958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A4F5CA1-3D72-2EE1-6C36-D53F88B10CFE}"/>
              </a:ext>
            </a:extLst>
          </p:cNvPr>
          <p:cNvSpPr txBox="1"/>
          <p:nvPr/>
        </p:nvSpPr>
        <p:spPr>
          <a:xfrm>
            <a:off x="838200" y="5473005"/>
            <a:ext cx="107342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Call volume changed across the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No extreme increases or sharp drops were observed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Overall call activity remained stable throughout the year</a:t>
            </a:r>
          </a:p>
        </p:txBody>
      </p:sp>
    </p:spTree>
    <p:extLst>
      <p:ext uri="{BB962C8B-B14F-4D97-AF65-F5344CB8AC3E}">
        <p14:creationId xmlns:p14="http://schemas.microsoft.com/office/powerpoint/2010/main" val="3219952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FFE52-9183-B596-3B6D-AB5D90697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Reach &amp; Conversion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5D83E-CC87-C546-9A80-AEC44B1EC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reach rate indicates how many calls successfully connected with customers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Conversion rate shows how many interactions resulted in closed deals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These metrics help evaluate the overall effectiveness and sales efficiency of call center operations.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022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437D3-E2F3-CB0B-2524-AE609A861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Agent Performance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FD25FC-BF09-4568-B917-FA2AE5BBCC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7758178"/>
              </p:ext>
            </p:extLst>
          </p:nvPr>
        </p:nvGraphicFramePr>
        <p:xfrm>
          <a:off x="777826" y="1617175"/>
          <a:ext cx="10515600" cy="33083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2C1D470-6B01-F544-85E5-656D2CBE7546}"/>
              </a:ext>
            </a:extLst>
          </p:cNvPr>
          <p:cNvSpPr txBox="1"/>
          <p:nvPr/>
        </p:nvSpPr>
        <p:spPr>
          <a:xfrm>
            <a:off x="777826" y="5107880"/>
            <a:ext cx="106363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Agent performance varied across the team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Only a few agents generated the highest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Top performers accounted for a large portion of total revenue</a:t>
            </a:r>
          </a:p>
        </p:txBody>
      </p:sp>
    </p:spTree>
    <p:extLst>
      <p:ext uri="{BB962C8B-B14F-4D97-AF65-F5344CB8AC3E}">
        <p14:creationId xmlns:p14="http://schemas.microsoft.com/office/powerpoint/2010/main" val="2932754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9FD79-9D68-BAC3-989B-61251326A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29EEE-C9DB-3347-410F-4D72BA7A3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Total revenue was generated consistently throughout the analysis period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Revenue fluctuated moderately across the months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No major operational disruptions were observed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Call volume varied across different months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Agent performance differed significantly across the team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Certain periods recorded higher call success rates</a:t>
            </a:r>
          </a:p>
        </p:txBody>
      </p:sp>
    </p:spTree>
    <p:extLst>
      <p:ext uri="{BB962C8B-B14F-4D97-AF65-F5344CB8AC3E}">
        <p14:creationId xmlns:p14="http://schemas.microsoft.com/office/powerpoint/2010/main" val="3706955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EDBC4-124F-9D7C-0121-3B23B70A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17DF9-62E9-DDE4-FC18-0DF85F5BE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Some agents consistently outperformed others in revenue generation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High call volume did not always translate into higher revenue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Revenue performance improved during specific periods of the year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analysis highlights opportunities to optimize call center performance</a:t>
            </a:r>
          </a:p>
        </p:txBody>
      </p:sp>
    </p:spTree>
    <p:extLst>
      <p:ext uri="{BB962C8B-B14F-4D97-AF65-F5344CB8AC3E}">
        <p14:creationId xmlns:p14="http://schemas.microsoft.com/office/powerpoint/2010/main" val="3223375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AAC5A-89D2-BE4E-B9CC-A5511C1B8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39D6E-2828-642D-4ED5-1E66AD153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Provide targeted coaching and training for low-performing agents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Replicate strategies used by top-performing agents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Focus operational efforts during high-performing periods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Investigate the drivers behind revenue fluctuations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Continuously monitor key performance metrics</a:t>
            </a:r>
          </a:p>
        </p:txBody>
      </p:sp>
    </p:spTree>
    <p:extLst>
      <p:ext uri="{BB962C8B-B14F-4D97-AF65-F5344CB8AC3E}">
        <p14:creationId xmlns:p14="http://schemas.microsoft.com/office/powerpoint/2010/main" val="1637685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24984-D9C0-F8A3-6BD0-2AB72BF38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3D1F9-FE63-5B14-CD9C-22B158196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This analysis provided a comprehensive evaluation of call center performance during 2024.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results indicate stable revenue generation, consistent operational activity, and noticeable performance differences across agents and time periods.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Overall, the call center demonstrated steady performance while presenting opportunities to improve efficiency and enhance sales outcomes.</a:t>
            </a:r>
          </a:p>
        </p:txBody>
      </p:sp>
    </p:spTree>
    <p:extLst>
      <p:ext uri="{BB962C8B-B14F-4D97-AF65-F5344CB8AC3E}">
        <p14:creationId xmlns:p14="http://schemas.microsoft.com/office/powerpoint/2010/main" val="769319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2354</TotalTime>
  <Words>692</Words>
  <Application>Microsoft Office PowerPoint</Application>
  <PresentationFormat>Widescreen</PresentationFormat>
  <Paragraphs>85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Call Center Performance Analysis (2024)</vt:lpstr>
      <vt:lpstr>Background &amp; Business Context</vt:lpstr>
      <vt:lpstr>Objectives of the Analysis</vt:lpstr>
      <vt:lpstr>Data Sourcing</vt:lpstr>
      <vt:lpstr>Dataset Overview</vt:lpstr>
      <vt:lpstr>Exploratory Data Analysis</vt:lpstr>
      <vt:lpstr>Data Preparation &amp; Cleaning</vt:lpstr>
      <vt:lpstr>Key Metrics &amp; Performance Indicators</vt:lpstr>
      <vt:lpstr>Revenue Performance</vt:lpstr>
      <vt:lpstr>Monthly Call Volume Analysis</vt:lpstr>
      <vt:lpstr>Reach &amp; Conversion Performance</vt:lpstr>
      <vt:lpstr>Agent Performance Comparison</vt:lpstr>
      <vt:lpstr>Key Findings</vt:lpstr>
      <vt:lpstr>Business Insights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godslovechito7@gmail.com</dc:creator>
  <cp:lastModifiedBy>godslovechito7@gmail.com</cp:lastModifiedBy>
  <cp:revision>59</cp:revision>
  <dcterms:created xsi:type="dcterms:W3CDTF">2026-02-23T10:39:25Z</dcterms:created>
  <dcterms:modified xsi:type="dcterms:W3CDTF">2026-03-11T14:52:04Z</dcterms:modified>
</cp:coreProperties>
</file>